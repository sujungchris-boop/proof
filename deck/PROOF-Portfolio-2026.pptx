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na/projects/proof/images/hero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502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58368" y="3154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WEB3 EVENT AGENCY  ·  BY CHRIS &amp; PARTNERS  ·  SEOUL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03504" y="342900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6000" i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Stages.</a:t>
            </a:r>
            <a:endParaRPr lang="en-US" sz="60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6000" i="1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</a:t>
            </a:r>
            <a:pPr indent="0" marL="0">
              <a:lnSpc>
                <a:spcPct val="96000"/>
              </a:lnSpc>
              <a:buNone/>
            </a:pPr>
            <a:r>
              <a:rPr lang="en-US" sz="6000" i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Execution.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658368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risna/projects/proof/images/abou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0"/>
            <a:ext cx="46936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8080" y="0"/>
            <a:ext cx="4693615" cy="6858000"/>
          </a:xfrm>
          <a:prstGeom prst="rect">
            <a:avLst/>
          </a:prstGeom>
          <a:solidFill>
            <a:srgbClr val="0E0E0E">
              <a:alpha val="2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WHO WE ARE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03504" y="96012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Web3 event agency,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Chris &amp; Partners.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5669280" cy="420624"/>
          </a:xfrm>
          <a:prstGeom prst="roundRect">
            <a:avLst>
              <a:gd name="adj" fmla="val 13043"/>
            </a:avLst>
          </a:prstGeom>
          <a:solidFill>
            <a:srgbClr val="1F1F1F"/>
          </a:solidFill>
          <a:ln w="9525">
            <a:solidFill>
              <a:srgbClr val="D6FF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46888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 OFFICIAL PARTNER · KOREA BLOCKCHAIN WEEK · SINCE 2023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is the Web3 event agency of Chris &amp; Partners — a Seoul-based professional organizer with 15 years of international operations. Global projects hand us the brief; we deliver the event — side party, VIP reception, sponsor activation or full conference — from Seoul to Bangkok to Singapore. We know the venues, the vendors and the variables before you brief us.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983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640080" y="56509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 ORGANIZED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267712" y="4983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15yr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2267712" y="56509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PCO TRACK RECORD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895344" y="4983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3895344" y="56509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OPERATIONS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522976" y="4983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Seoul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5522976" y="56509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HEADQUARTERS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 ·  BY CHRIS &amp;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WHAT WE 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93268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do.</a:t>
            </a:r>
            <a:endParaRPr lang="en-US" sz="4000" dirty="0"/>
          </a:p>
        </p:txBody>
      </p:sp>
      <p:pic>
        <p:nvPicPr>
          <p:cNvPr id="4" name="Image 0" descr="/Users/chrisna/projects/proof/images/expertise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286000"/>
            <a:ext cx="2670048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286000"/>
            <a:ext cx="2670048" cy="3246120"/>
          </a:xfrm>
          <a:prstGeom prst="rect">
            <a:avLst/>
          </a:prstGeom>
          <a:solidFill>
            <a:srgbClr val="0E0E0E">
              <a:alpha val="7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3977640"/>
            <a:ext cx="2670048" cy="1554480"/>
          </a:xfrm>
          <a:prstGeom prst="rect">
            <a:avLst/>
          </a:prstGeom>
          <a:solidFill>
            <a:srgbClr val="0E0E0E">
              <a:alpha val="8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4323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" y="405079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5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Conferences &amp; Summits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04672" y="481888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9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summits (Seoul Meta Week) and full conference production for clients (Polygon).</a:t>
            </a:r>
            <a:endParaRPr lang="en-US" sz="1100" dirty="0"/>
          </a:p>
        </p:txBody>
      </p:sp>
      <p:pic>
        <p:nvPicPr>
          <p:cNvPr id="10" name="Image 1" descr="/Users/chrisna/projects/proof/images/expertise-0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84448" y="2286000"/>
            <a:ext cx="2670048" cy="32461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84448" y="2286000"/>
            <a:ext cx="2670048" cy="3246120"/>
          </a:xfrm>
          <a:prstGeom prst="rect">
            <a:avLst/>
          </a:prstGeom>
          <a:solidFill>
            <a:srgbClr val="0E0E0E">
              <a:alpha val="70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3584448" y="3977640"/>
            <a:ext cx="2670048" cy="1554480"/>
          </a:xfrm>
          <a:prstGeom prst="rect">
            <a:avLst/>
          </a:prstGeom>
          <a:solidFill>
            <a:srgbClr val="0E0E0E">
              <a:alpha val="84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3749040" y="24323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749040" y="405079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5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 Events &amp; Activations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3749040" y="481888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9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TOKEN2049, KBW, Polygon. Venue, branding, AV, on-site staffing.</a:t>
            </a:r>
            <a:endParaRPr lang="en-US" sz="1100" dirty="0"/>
          </a:p>
        </p:txBody>
      </p:sp>
      <p:pic>
        <p:nvPicPr>
          <p:cNvPr id="16" name="Image 2" descr="/Users/chrisna/projects/proof/images/expertise-0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28816" y="2286000"/>
            <a:ext cx="2670048" cy="32461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528816" y="2286000"/>
            <a:ext cx="2670048" cy="3246120"/>
          </a:xfrm>
          <a:prstGeom prst="rect">
            <a:avLst/>
          </a:prstGeom>
          <a:solidFill>
            <a:srgbClr val="0E0E0E">
              <a:alpha val="7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6528816" y="3977640"/>
            <a:ext cx="2670048" cy="1554480"/>
          </a:xfrm>
          <a:prstGeom prst="rect">
            <a:avLst/>
          </a:prstGeom>
          <a:solidFill>
            <a:srgbClr val="0E0E0E">
              <a:alpha val="84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6693408" y="24323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693408" y="405079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5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Dinners &amp; VIP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6693408" y="481888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9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events for investor relations and strategic partnerships.</a:t>
            </a:r>
            <a:endParaRPr lang="en-US" sz="1100" dirty="0"/>
          </a:p>
        </p:txBody>
      </p:sp>
      <p:pic>
        <p:nvPicPr>
          <p:cNvPr id="22" name="Image 3" descr="/Users/chrisna/projects/proof/images/expertise-0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73184" y="2286000"/>
            <a:ext cx="2670048" cy="32461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473184" y="2286000"/>
            <a:ext cx="2670048" cy="3246120"/>
          </a:xfrm>
          <a:prstGeom prst="rect">
            <a:avLst/>
          </a:prstGeom>
          <a:solidFill>
            <a:srgbClr val="0E0E0E">
              <a:alpha val="70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9473184" y="3977640"/>
            <a:ext cx="2670048" cy="1554480"/>
          </a:xfrm>
          <a:prstGeom prst="rect">
            <a:avLst/>
          </a:prstGeom>
          <a:solidFill>
            <a:srgbClr val="0E0E0E">
              <a:alpha val="84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9637776" y="24323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637776" y="405079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75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Korea Market Entry</a:t>
            </a:r>
            <a:endParaRPr lang="en-US" sz="1750" dirty="0"/>
          </a:p>
        </p:txBody>
      </p:sp>
      <p:sp>
        <p:nvSpPr>
          <p:cNvPr id="27" name="Text 21"/>
          <p:cNvSpPr/>
          <p:nvPr/>
        </p:nvSpPr>
        <p:spPr>
          <a:xfrm>
            <a:off x="9637776" y="481888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9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PCO for global Web3 projects entering the Korean market.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 ·  BY CHRIS &amp; PARTNERS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WHY PROOF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1024128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teams land for the one week </a:t>
            </a:r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matters</a:t>
            </a:r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with no ground game.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D9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Seoul, Singapore, Bangkok — the rooms book out, the vendors are spoken for, and the calendar doesn't move. PROOF is the operator that's already there: 150+ events across the region, the venues and suppliers on speed-dial, and the failure points mapped before you brief us.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384048" cy="45720"/>
          </a:xfrm>
          <a:prstGeom prst="rect">
            <a:avLst/>
          </a:prstGeom>
          <a:solidFill>
            <a:srgbClr val="D6FF3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ground ops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Venues, vendors and crew secured in markets you don't operate 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4297680"/>
            <a:ext cx="384048" cy="45720"/>
          </a:xfrm>
          <a:prstGeom prst="rect">
            <a:avLst/>
          </a:prstGeom>
          <a:solidFill>
            <a:srgbClr val="FF3D9A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Client-first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297680" y="5029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brief, your brand — from a VIP dinner to a full conference.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4297680"/>
            <a:ext cx="384048" cy="45720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to end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955280" y="5029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to on-site — run-of-show, AV, staffing, the variables.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 ·  BY CHRIS &amp; PARTNERS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 WORK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10241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events. </a:t>
            </a:r>
            <a:pPr indent="0" marL="0">
              <a:buNone/>
            </a:pPr>
            <a:r>
              <a:rPr lang="en-US" sz="32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in depth.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DEPTH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2606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Sahara AI Connect Party 2025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2990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EVENT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3319272"/>
            <a:ext cx="475488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930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34472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Aggregation Summit 2024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7008" y="38313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CONFERENCE PRODUCTION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475488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342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42885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Polygon Connect Korea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7008" y="46725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 MARKET ENTRY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5001768"/>
            <a:ext cx="475488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1755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51297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BitGo VIP Networking Reception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55138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INVESTOR DINNER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5843016"/>
            <a:ext cx="4754880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INSIDE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2578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Owned flagship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2999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Seoul Meta Week — 5 editions, 2021–2025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client work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72200" y="41148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IXO — Web3 Roadshow Series   ·   Gensyn — ai(RL) Seoul   ·   Polygon IGNITE   ·   HYCONHACKS   ·   Blockchain Partners Summit 2018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 ·  BY CHRIS &amp; PARTNERS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.sanity.io/images/x6yzy771/production/eea2ad0dc8ad45ead9e1aa1b7caca86c1361e969-2560x1703.jpg?w=1600&amp;auto=format&amp;fit=ma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093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0E0E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577840"/>
            <a:ext cx="6309360" cy="1280160"/>
          </a:xfrm>
          <a:prstGeom prst="rect">
            <a:avLst/>
          </a:prstGeom>
          <a:solidFill>
            <a:srgbClr val="0E0E0E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199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pPr indent="0" marL="0">
              <a:buNone/>
            </a:pPr>
            <a:r>
              <a:rPr lang="en-US" sz="1100" spc="1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208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EVENT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84264" y="1060704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7000"/>
              </a:lnSpc>
              <a:buNone/>
            </a:pPr>
            <a:r>
              <a:rPr lang="en-US" sz="29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Sahara AI Connect Party 2025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720840" y="23591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SAHARA AI  ·  SEBIT ISLAND CONVENTION HALL, SEOUL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720840" y="2816352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opening-night party of Korea Blockchain Week 2025 for Sahara AI — a 1,000-guest global networking event on Seoul's Sebit Island, produced end to end by PROOF.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2084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72084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38200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KBW 2025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38200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OPENING NIGHT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04316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 2025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04316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SEBIT ISLAND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20840" y="55595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20840" y="57972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2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 &amp; production   ·   Run-of-show &amp; pacing   ·   AV, staging &amp; lighting   ·   On-site staffing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20840" y="62636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E6E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“Three global partners told us it was the best event of the week. That doesn't happen by luck.”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.sanity.io/images/x6yzy771/production/9431b988cf3bc588f9ee91a23d3e8bbd51d86d5b-2379x1295.jpg?w=1600&amp;auto=format&amp;fit=ma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093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0E0E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577840"/>
            <a:ext cx="6309360" cy="1280160"/>
          </a:xfrm>
          <a:prstGeom prst="rect">
            <a:avLst/>
          </a:prstGeom>
          <a:solidFill>
            <a:srgbClr val="0E0E0E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199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pPr indent="0" marL="0">
              <a:buNone/>
            </a:pPr>
            <a:r>
              <a:rPr lang="en-US" sz="1100" spc="1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208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CONFERENCE PRODUCTION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84264" y="1060704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7000"/>
              </a:lnSpc>
              <a:buNone/>
            </a:pPr>
            <a:r>
              <a:rPr lang="en-US" sz="29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Aggregation Summit 2024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720840" y="23591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DIGITAL PARK WEST, BANGKOK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720840" y="2816352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1,000+ attendee flagship Web3 summit in Bangkok — PROOF ran it end to end as the APAC event agency, from planning to on-site, across 50+ concurrent programs.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2084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1,000+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72084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ATTENDEES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38200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38200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04316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days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04316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BANGKOK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20840" y="55595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20840" y="57972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2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event production   ·   Multi-track program ops   ·   Sponsor &amp; partner booths   ·   Experience programming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.sanity.io/images/x6yzy771/production/39de005bcab2e27057ad08cc98c5419f5922fb77-2560x1920.jpg?w=1600&amp;auto=format&amp;fit=ma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093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0E0E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577840"/>
            <a:ext cx="6309360" cy="1280160"/>
          </a:xfrm>
          <a:prstGeom prst="rect">
            <a:avLst/>
          </a:prstGeom>
          <a:solidFill>
            <a:srgbClr val="0E0E0E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199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pPr indent="0" marL="0">
              <a:buNone/>
            </a:pPr>
            <a:r>
              <a:rPr lang="en-US" sz="1100" spc="100" kern="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208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 MARKET ENTRY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84264" y="1060704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7000"/>
              </a:lnSpc>
              <a:buNone/>
            </a:pPr>
            <a:r>
              <a:rPr lang="en-US" sz="29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Polygon Connect Korea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720840" y="23591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POLYGON / HASHED  ·  TEXTILE CENTER EVENT HALL, SEOUL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720840" y="2816352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Polygon's Korea market-entry event, co-hosted with Hashed — sessions, business networking and a hip after-party for ~500 on-site guests.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2084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72084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ON-SITE GUESTS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38200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Polygon × Hashed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38200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CO-HOSTED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04316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 2022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04316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SEOUL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20840" y="55595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20840" y="57972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2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Corporate event planning   ·   Hybrid event operation   ·   Venue build &amp; atmosphere   ·   Networking after-party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.sanity.io/images/x6yzy771/production/08d9982ea037f71b6ac3adfeaf19a2c548a4d447-1920x1080.jpg?w=1600&amp;auto=format&amp;fit=ma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093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0E0E">
              <a:alpha val="6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577840"/>
            <a:ext cx="6309360" cy="1280160"/>
          </a:xfrm>
          <a:prstGeom prst="rect">
            <a:avLst/>
          </a:prstGeom>
          <a:solidFill>
            <a:srgbClr val="0E0E0E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199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pPr indent="0" marL="0">
              <a:buNone/>
            </a:pPr>
            <a:r>
              <a:rPr lang="en-US" sz="1100" spc="1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208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INVESTOR DINNER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84264" y="1060704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7000"/>
              </a:lnSpc>
              <a:buNone/>
            </a:pPr>
            <a:r>
              <a:rPr lang="en-US" sz="29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BitGo VIP Networking Reception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6720840" y="23591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BITGO / FACTBLOCK  ·  RAUM, SEOUL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720840" y="2816352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VIP reception hosted by digital-asset custody leader BitGo during Korea Blockchain Week 2023 — premium networking in Raum's chandelier ballroom, produced by PROOF.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2084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KBW 2023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72084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38200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VIP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38200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INVITE-ONLY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043160" y="4407408"/>
            <a:ext cx="1551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BitGo × FACTBLOCK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043160" y="4956048"/>
            <a:ext cx="155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0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CO-HOSTED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720840" y="5559552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20840" y="57972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2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 build &amp; styling   ·   Production &amp; direction   ·   Catering &amp; hospitality   ·   On-site operations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OWN FLAGSHIP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10241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only run clients' events — </a:t>
            </a:r>
            <a:pPr indent="0" marL="0">
              <a:buNone/>
            </a:pPr>
            <a:r>
              <a:rPr lang="en-US" sz="3000" dirty="0">
                <a:solidFill>
                  <a:srgbClr val="FF3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our own.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Meta Week — 5 editions, 2021–2025. Proof we can produce and scale a 1,500-person summit end to end, not just a side event.</a:t>
            </a:r>
            <a:endParaRPr lang="en-US" sz="1400" dirty="0"/>
          </a:p>
        </p:txBody>
      </p:sp>
      <p:pic>
        <p:nvPicPr>
          <p:cNvPr id="5" name="Image 0" descr="https://cdn.sanity.io/images/x6yzy771/production/b220293ee711f3637f2c8a4f6572175687e2501e-2560x1707.jpg?w=1600&amp;auto=format&amp;fit=ma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834640"/>
            <a:ext cx="1965960" cy="1783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834640"/>
            <a:ext cx="1965960" cy="1783080"/>
          </a:xfrm>
          <a:prstGeom prst="rect">
            <a:avLst/>
          </a:prstGeom>
          <a:solidFill>
            <a:srgbClr val="0E0E0E">
              <a:alpha val="8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709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3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5230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1,500+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ATTENDEES</a:t>
            </a:r>
            <a:endParaRPr lang="en-US" sz="750" dirty="0"/>
          </a:p>
        </p:txBody>
      </p:sp>
      <p:pic>
        <p:nvPicPr>
          <p:cNvPr id="10" name="Image 1" descr="https://cdn.sanity.io/images/x6yzy771/production/f7660befb521a85ec19ba13747df78143eb2c561-2560x1706.jpg?w=1600&amp;auto=format&amp;fit=max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20924" y="2834640"/>
            <a:ext cx="1965960" cy="1783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20924" y="2834640"/>
            <a:ext cx="1965960" cy="1783080"/>
          </a:xfrm>
          <a:prstGeom prst="rect">
            <a:avLst/>
          </a:prstGeom>
          <a:solidFill>
            <a:srgbClr val="0E0E0E">
              <a:alpha val="82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820924" y="4709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3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2820924" y="5230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1,500+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820924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ATTENDEES</a:t>
            </a:r>
            <a:endParaRPr lang="en-US" sz="750" dirty="0"/>
          </a:p>
        </p:txBody>
      </p:sp>
      <p:pic>
        <p:nvPicPr>
          <p:cNvPr id="15" name="Image 2" descr="https://cdn.sanity.io/images/x6yzy771/production/963627ea0f05013b112f813db3cdb46d16a3ecc5-2560x1707.jpg?w=1600&amp;auto=format&amp;fit=max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01768" y="2834640"/>
            <a:ext cx="1965960" cy="17830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01768" y="2834640"/>
            <a:ext cx="1965960" cy="1783080"/>
          </a:xfrm>
          <a:prstGeom prst="rect">
            <a:avLst/>
          </a:prstGeom>
          <a:solidFill>
            <a:srgbClr val="0E0E0E">
              <a:alpha val="82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001768" y="4709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3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001768" y="5230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1,500+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001768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ATTENDEES</a:t>
            </a:r>
            <a:endParaRPr lang="en-US" sz="750" dirty="0"/>
          </a:p>
        </p:txBody>
      </p:sp>
      <p:pic>
        <p:nvPicPr>
          <p:cNvPr id="20" name="Image 3" descr="https://cdn.sanity.io/images/x6yzy771/production/a37dd6aba960110ca8b6eb26d771bb485775de3b-2560x1703.jpg?w=1600&amp;auto=format&amp;fit=max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82612" y="2834640"/>
            <a:ext cx="1965960" cy="17830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182612" y="2834640"/>
            <a:ext cx="1965960" cy="1783080"/>
          </a:xfrm>
          <a:prstGeom prst="rect">
            <a:avLst/>
          </a:prstGeom>
          <a:solidFill>
            <a:srgbClr val="0E0E0E">
              <a:alpha val="82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82612" y="4709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3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182612" y="5230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~1,000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182612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ATTENDEES</a:t>
            </a:r>
            <a:endParaRPr lang="en-US" sz="750" dirty="0"/>
          </a:p>
        </p:txBody>
      </p:sp>
      <p:pic>
        <p:nvPicPr>
          <p:cNvPr id="25" name="Image 4" descr="https://cdn.sanity.io/images/x6yzy771/production/76fff8dc8d6a07bbc5c2ce156921283ed6f5615a-2560x1707.jpg?w=1600&amp;auto=format&amp;fit=max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363456" y="2834640"/>
            <a:ext cx="1965960" cy="178308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363456" y="2834640"/>
            <a:ext cx="1965960" cy="1783080"/>
          </a:xfrm>
          <a:prstGeom prst="rect">
            <a:avLst/>
          </a:prstGeom>
          <a:solidFill>
            <a:srgbClr val="0E0E0E">
              <a:alpha val="82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9363456" y="4709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3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2021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9363456" y="5230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12,000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363456" y="55961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</a:t>
            </a:r>
            <a:endParaRPr lang="en-US" sz="750" dirty="0"/>
          </a:p>
        </p:txBody>
      </p:sp>
      <p:sp>
        <p:nvSpPr>
          <p:cNvPr id="30" name="Text 2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 ·  BY CHRIS &amp; PARTNERS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CLIENT WORK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10241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deeper </a:t>
            </a:r>
            <a:pPr indent="0" marL="0">
              <a:buNone/>
            </a:pPr>
            <a:r>
              <a:rPr lang="en-US" sz="30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from 150+ events — activations, mixers, hackathons and roadshows across the region.</a:t>
            </a:r>
            <a:endParaRPr lang="en-US" sz="1400" dirty="0"/>
          </a:p>
        </p:txBody>
      </p:sp>
      <p:pic>
        <p:nvPicPr>
          <p:cNvPr id="5" name="Image 0" descr="https://cdn.sanity.io/images/x6yzy771/production/fc83ab92b3ea22c33903d579a749c4c5e4db9743-1280x720.jpg?w=1600&amp;auto=format&amp;fit=ma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788920"/>
            <a:ext cx="196596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788920"/>
            <a:ext cx="1965960" cy="1554480"/>
          </a:xfrm>
          <a:prstGeom prst="rect">
            <a:avLst/>
          </a:prstGeom>
          <a:solidFill>
            <a:srgbClr val="0E0E0E">
              <a:alpha val="78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4531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IXO — Web3 Roadshow Series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5074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PRODUCTION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40080" y="5367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5,000+  ·  Cumulative attendees</a:t>
            </a:r>
            <a:endParaRPr lang="en-US" sz="750" dirty="0"/>
          </a:p>
        </p:txBody>
      </p:sp>
      <p:pic>
        <p:nvPicPr>
          <p:cNvPr id="10" name="Image 1" descr="https://cdn.sanity.io/images/x6yzy771/production/77015d505c5dedefa9a3c40b3c81d9d97aa2b50c-2048x1366.jpg?w=1600&amp;auto=format&amp;fit=max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20924" y="2788920"/>
            <a:ext cx="1965960" cy="15544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20924" y="2788920"/>
            <a:ext cx="1965960" cy="1554480"/>
          </a:xfrm>
          <a:prstGeom prst="rect">
            <a:avLst/>
          </a:prstGeom>
          <a:solidFill>
            <a:srgbClr val="0E0E0E">
              <a:alpha val="78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820924" y="44531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Gensyn — ai(RL) Seoul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820924" y="5074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EVENT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2820924" y="5367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KBW 2025  ·  During</a:t>
            </a:r>
            <a:endParaRPr lang="en-US" sz="750" dirty="0"/>
          </a:p>
        </p:txBody>
      </p:sp>
      <p:pic>
        <p:nvPicPr>
          <p:cNvPr id="15" name="Image 2" descr="https://cdn.sanity.io/images/x6yzy771/production/c16fda47f3b1b7fc60de77fc19b4f20e934aaa01-2560x1707.jpg?w=1600&amp;auto=format&amp;fit=max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01768" y="2788920"/>
            <a:ext cx="1965960" cy="15544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01768" y="2788920"/>
            <a:ext cx="1965960" cy="1554480"/>
          </a:xfrm>
          <a:prstGeom prst="rect">
            <a:avLst/>
          </a:prstGeom>
          <a:solidFill>
            <a:srgbClr val="0E0E0E">
              <a:alpha val="78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5001768" y="44531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Polygon IGNITE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001768" y="5074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5001768" y="5367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800+  ·  Guests</a:t>
            </a:r>
            <a:endParaRPr lang="en-US" sz="750" dirty="0"/>
          </a:p>
        </p:txBody>
      </p:sp>
      <p:pic>
        <p:nvPicPr>
          <p:cNvPr id="20" name="Image 3" descr="https://cdn.sanity.io/images/x6yzy771/production/28c7f16fb393076036a65e80fdebd8a2541c4c6e-2560x1707.jpg?w=1600&amp;auto=format&amp;fit=max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82612" y="2788920"/>
            <a:ext cx="1965960" cy="15544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182612" y="2788920"/>
            <a:ext cx="1965960" cy="1554480"/>
          </a:xfrm>
          <a:prstGeom prst="rect">
            <a:avLst/>
          </a:prstGeom>
          <a:solidFill>
            <a:srgbClr val="0E0E0E">
              <a:alpha val="78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182612" y="44531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HYCONHACKS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82612" y="5074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</a:t>
            </a:r>
            <a:endParaRPr lang="en-US" sz="700" dirty="0"/>
          </a:p>
        </p:txBody>
      </p:sp>
      <p:sp>
        <p:nvSpPr>
          <p:cNvPr id="24" name="Text 18"/>
          <p:cNvSpPr/>
          <p:nvPr/>
        </p:nvSpPr>
        <p:spPr>
          <a:xfrm>
            <a:off x="7182612" y="5367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200+  ·  Hackers</a:t>
            </a:r>
            <a:endParaRPr lang="en-US" sz="750" dirty="0"/>
          </a:p>
        </p:txBody>
      </p:sp>
      <p:pic>
        <p:nvPicPr>
          <p:cNvPr id="25" name="Image 4" descr="https://cdn.sanity.io/images/x6yzy771/production/19ebe98841b04b63d333ad0424bdb64554da960c-2560x1707.jpg?w=1600&amp;auto=format&amp;fit=max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363456" y="2788920"/>
            <a:ext cx="1965960" cy="155448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363456" y="2788920"/>
            <a:ext cx="1965960" cy="1554480"/>
          </a:xfrm>
          <a:prstGeom prst="rect">
            <a:avLst/>
          </a:prstGeom>
          <a:solidFill>
            <a:srgbClr val="0E0E0E">
              <a:alpha val="78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9363456" y="44531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 Partners Summit 2018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363456" y="5074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CONFERENCE PRODUCTION</a:t>
            </a:r>
            <a:endParaRPr lang="en-US" sz="700" dirty="0"/>
          </a:p>
        </p:txBody>
      </p:sp>
      <p:sp>
        <p:nvSpPr>
          <p:cNvPr id="29" name="Text 22"/>
          <p:cNvSpPr/>
          <p:nvPr/>
        </p:nvSpPr>
        <p:spPr>
          <a:xfrm>
            <a:off x="9363456" y="53675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2018  ·  Early-era summit</a:t>
            </a:r>
            <a:endParaRPr lang="en-US" sz="750" dirty="0"/>
          </a:p>
        </p:txBody>
      </p:sp>
      <p:sp>
        <p:nvSpPr>
          <p:cNvPr id="30" name="Text 23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 ·  BY CHRIS &amp; PARTNERS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 &amp; PARTNERS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POLYGON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097280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SAHARA AI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097280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BITGO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0" y="1097280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0" y="1097280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GENSYN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1883664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83664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0" y="1883664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883664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TV CHOSUN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883664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83664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HASHKEY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0" y="1883664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1883664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TOKENPOST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2670048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670048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WEMIX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74720" y="2670048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670048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AEON PROTOCOL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2670048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670048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SOLANA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44000" y="2670048"/>
            <a:ext cx="2724912" cy="676656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2670048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GLOSFER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3977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OFFICIAL PARTNER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3504" y="42793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Korea Blockchain Week </a:t>
            </a:r>
            <a:pPr indent="0" marL="0">
              <a:buNone/>
            </a:pPr>
            <a:r>
              <a:rPr lang="en-US" sz="2800" i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official partner since 2023.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0080" y="5166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OPERATING AT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03504" y="54681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FF3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TOKEN2049   ✳  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Seoul Meta Week   ✳  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FF3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Aggregation Summit   ✳  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Polygon Connect   ✳  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FF3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Consensus Asia   ✳  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EthDenver   ✳  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FF3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DevCon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 ·  BY CHRIS &amp; PARTNERS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WITH 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3504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to start. </a:t>
            </a:r>
            <a:pPr indent="0" marL="0">
              <a:buNone/>
            </a:pPr>
            <a:r>
              <a:rPr lang="en-US" sz="34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your moment.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55748" cy="3383280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2555748" cy="73152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505456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Dinner &amp; VIP Reception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3200400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$10–25k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" y="3767328"/>
            <a:ext cx="2226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30–120 GUESTS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4160520"/>
            <a:ext cx="2226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intimate, invite-only evening that turns key relationships into deals.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4428" y="2286000"/>
            <a:ext cx="2555748" cy="3383280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4428" y="2286000"/>
            <a:ext cx="2555748" cy="73152"/>
          </a:xfrm>
          <a:prstGeom prst="rect">
            <a:avLst/>
          </a:prstGeom>
          <a:solidFill>
            <a:srgbClr val="FF3D9A"/>
          </a:solidFill>
          <a:ln/>
        </p:spPr>
      </p:sp>
      <p:sp>
        <p:nvSpPr>
          <p:cNvPr id="12" name="Text 10"/>
          <p:cNvSpPr/>
          <p:nvPr/>
        </p:nvSpPr>
        <p:spPr>
          <a:xfrm>
            <a:off x="3589020" y="2505456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Networking Night / Side Party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9020" y="3200400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3D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$25–50k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89020" y="3767328"/>
            <a:ext cx="2226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150–350 GUESTS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89020" y="4160520"/>
            <a:ext cx="2226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night everyone's talking about — the must-attend mixer of the week.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08776" y="2286000"/>
            <a:ext cx="2555748" cy="3383280"/>
          </a:xfrm>
          <a:prstGeom prst="rect">
            <a:avLst/>
          </a:prstGeom>
          <a:solidFill>
            <a:srgbClr val="1F1F1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2286000"/>
            <a:ext cx="2555748" cy="73152"/>
          </a:xfrm>
          <a:prstGeom prst="rect">
            <a:avLst/>
          </a:prstGeom>
          <a:solidFill>
            <a:srgbClr val="D6FF3F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505456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Flagship Activation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73368" y="3200400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$50–100k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73368" y="3767328"/>
            <a:ext cx="2226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300–800 GUESTS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73368" y="4160520"/>
            <a:ext cx="2226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headline moment of the conference week — full production, programming, overseas-capable.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93124" y="2286000"/>
            <a:ext cx="2555748" cy="3383280"/>
          </a:xfrm>
          <a:prstGeom prst="rect">
            <a:avLst/>
          </a:prstGeom>
          <a:solidFill>
            <a:srgbClr val="D6FF3F"/>
          </a:solidFill>
          <a:ln/>
        </p:spPr>
      </p:sp>
      <p:sp>
        <p:nvSpPr>
          <p:cNvPr id="23" name="Text 21"/>
          <p:cNvSpPr/>
          <p:nvPr/>
        </p:nvSpPr>
        <p:spPr>
          <a:xfrm>
            <a:off x="9157716" y="2505456"/>
            <a:ext cx="2226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Conference / Summit Production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57716" y="3200400"/>
            <a:ext cx="2226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$100k+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57716" y="3767328"/>
            <a:ext cx="22265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1,000+ ATTENDEES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157716" y="4160520"/>
            <a:ext cx="2226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11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multi-day, multi-track flagship — speakers, exhibition, the full machine.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Indicative ranges (USD) · scoped to your brief · à-la-carte add-ons (after-party · hybrid livestream · content &amp; recap · VIP transport). Overseas markets quoted on request.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 ·  BY CHRIS &amp; PARTNERS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.sanity.io/images/x6yzy771/production/08d9982ea037f71b6ac3adfeaf19a2c548a4d447-1920x1080.jpg?w=1600&amp;auto=format&amp;fit=ma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093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0E0E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577840"/>
            <a:ext cx="6309360" cy="1280160"/>
          </a:xfrm>
          <a:prstGeom prst="rect">
            <a:avLst/>
          </a:prstGeom>
          <a:solidFill>
            <a:srgbClr val="0E0E0E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199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PROPOSAL </a:t>
            </a:r>
            <a:pPr indent="0" marL="0">
              <a:buNone/>
            </a:pPr>
            <a:r>
              <a:rPr lang="en-US" sz="1100" spc="100" kern="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208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PROPOSAL · STARTING POINT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84264" y="11430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Dinner &amp; VIP Reception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720840" y="22860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5B8CFF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$10–25k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720840" y="30632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intimate, invite-only evening that turns key relationships into deals.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20840" y="4078224"/>
            <a:ext cx="109728" cy="109728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2" name="Text 9"/>
          <p:cNvSpPr/>
          <p:nvPr/>
        </p:nvSpPr>
        <p:spPr>
          <a:xfrm>
            <a:off x="6976872" y="4023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venue &amp; styling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20840" y="4462272"/>
            <a:ext cx="109728" cy="109728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4" name="Text 11"/>
          <p:cNvSpPr/>
          <p:nvPr/>
        </p:nvSpPr>
        <p:spPr>
          <a:xfrm>
            <a:off x="6976872" y="44074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 &amp; hospitality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720840" y="4846320"/>
            <a:ext cx="109728" cy="109728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6" name="Text 13"/>
          <p:cNvSpPr/>
          <p:nvPr/>
        </p:nvSpPr>
        <p:spPr>
          <a:xfrm>
            <a:off x="6976872" y="47914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run-of-show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720840" y="5230368"/>
            <a:ext cx="109728" cy="109728"/>
          </a:xfrm>
          <a:prstGeom prst="rect">
            <a:avLst/>
          </a:prstGeom>
          <a:solidFill>
            <a:srgbClr val="5B8CFF"/>
          </a:solidFill>
          <a:ln/>
        </p:spPr>
      </p:sp>
      <p:sp>
        <p:nvSpPr>
          <p:cNvPr id="18" name="Text 15"/>
          <p:cNvSpPr/>
          <p:nvPr/>
        </p:nvSpPr>
        <p:spPr>
          <a:xfrm>
            <a:off x="6976872" y="517550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team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720840" y="56692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30–120 guests  ·  3–5 weeks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20840" y="59893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— BitGo VIP Reception · KBW 2023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.sanity.io/images/x6yzy771/production/77015d505c5dedefa9a3c40b3c81d9d97aa2b50c-2048x1366.jpg?w=1600&amp;auto=format&amp;fit=ma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093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0E0E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577840"/>
            <a:ext cx="6309360" cy="1280160"/>
          </a:xfrm>
          <a:prstGeom prst="rect">
            <a:avLst/>
          </a:prstGeom>
          <a:solidFill>
            <a:srgbClr val="0E0E0E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199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PROPOSAL </a:t>
            </a:r>
            <a:pPr indent="0" marL="0">
              <a:buNone/>
            </a:pPr>
            <a:r>
              <a:rPr lang="en-US" sz="1100" spc="100" kern="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208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PROPOSAL · STARTING POINT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84264" y="11430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Networking Night / Side Party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720840" y="22860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FF3D9A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$25–50k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720840" y="30632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branded night everyone's talking about — the must-attend mixer of the week.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20840" y="4078224"/>
            <a:ext cx="109728" cy="109728"/>
          </a:xfrm>
          <a:prstGeom prst="rect">
            <a:avLst/>
          </a:prstGeom>
          <a:solidFill>
            <a:srgbClr val="FF3D9A"/>
          </a:solidFill>
          <a:ln/>
        </p:spPr>
      </p:sp>
      <p:sp>
        <p:nvSpPr>
          <p:cNvPr id="12" name="Text 9"/>
          <p:cNvSpPr/>
          <p:nvPr/>
        </p:nvSpPr>
        <p:spPr>
          <a:xfrm>
            <a:off x="6976872" y="4023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&amp; build-out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20840" y="4462272"/>
            <a:ext cx="109728" cy="109728"/>
          </a:xfrm>
          <a:prstGeom prst="rect">
            <a:avLst/>
          </a:prstGeom>
          <a:solidFill>
            <a:srgbClr val="FF3D9A"/>
          </a:solidFill>
          <a:ln/>
        </p:spPr>
      </p:sp>
      <p:sp>
        <p:nvSpPr>
          <p:cNvPr id="14" name="Text 11"/>
          <p:cNvSpPr/>
          <p:nvPr/>
        </p:nvSpPr>
        <p:spPr>
          <a:xfrm>
            <a:off x="6976872" y="44074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AV, staging &amp; lighting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720840" y="4846320"/>
            <a:ext cx="109728" cy="109728"/>
          </a:xfrm>
          <a:prstGeom prst="rect">
            <a:avLst/>
          </a:prstGeom>
          <a:solidFill>
            <a:srgbClr val="FF3D9A"/>
          </a:solidFill>
          <a:ln/>
        </p:spPr>
      </p:sp>
      <p:sp>
        <p:nvSpPr>
          <p:cNvPr id="16" name="Text 13"/>
          <p:cNvSpPr/>
          <p:nvPr/>
        </p:nvSpPr>
        <p:spPr>
          <a:xfrm>
            <a:off x="6976872" y="47914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/ DJ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720840" y="5230368"/>
            <a:ext cx="109728" cy="109728"/>
          </a:xfrm>
          <a:prstGeom prst="rect">
            <a:avLst/>
          </a:prstGeom>
          <a:solidFill>
            <a:srgbClr val="FF3D9A"/>
          </a:solidFill>
          <a:ln/>
        </p:spPr>
      </p:sp>
      <p:sp>
        <p:nvSpPr>
          <p:cNvPr id="18" name="Text 15"/>
          <p:cNvSpPr/>
          <p:nvPr/>
        </p:nvSpPr>
        <p:spPr>
          <a:xfrm>
            <a:off x="6976872" y="517550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staffing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720840" y="56692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150–350 guests  ·  5–7 weeks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20840" y="59893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3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— Gensyn ai(RL) Seoul · Polygon IGNITE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.sanity.io/images/x6yzy771/production/eea2ad0dc8ad45ead9e1aa1b7caca86c1361e969-2560x1703.jpg?w=1600&amp;auto=format&amp;fit=ma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3093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0E0E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577840"/>
            <a:ext cx="6309360" cy="1280160"/>
          </a:xfrm>
          <a:prstGeom prst="rect">
            <a:avLst/>
          </a:prstGeom>
          <a:solidFill>
            <a:srgbClr val="0E0E0E">
              <a:alpha val="8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199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PROPOSAL </a:t>
            </a:r>
            <a:pPr indent="0" marL="0">
              <a:buNone/>
            </a:pPr>
            <a:r>
              <a:rPr lang="en-US" sz="1100" spc="1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04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208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PROPOSAL · STARTING POINT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84264" y="11430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Flagship Activation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720840" y="22860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D6FF3F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1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$50–100k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720840" y="30632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headline moment of the conference week — full production, programming, overseas-capable.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20840" y="4078224"/>
            <a:ext cx="109728" cy="109728"/>
          </a:xfrm>
          <a:prstGeom prst="rect">
            <a:avLst/>
          </a:prstGeom>
          <a:solidFill>
            <a:srgbClr val="D6FF3F"/>
          </a:solidFill>
          <a:ln/>
        </p:spPr>
      </p:sp>
      <p:sp>
        <p:nvSpPr>
          <p:cNvPr id="12" name="Text 9"/>
          <p:cNvSpPr/>
          <p:nvPr/>
        </p:nvSpPr>
        <p:spPr>
          <a:xfrm>
            <a:off x="6976872" y="4023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Marquee venue &amp; full production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20840" y="4462272"/>
            <a:ext cx="109728" cy="109728"/>
          </a:xfrm>
          <a:prstGeom prst="rect">
            <a:avLst/>
          </a:prstGeom>
          <a:solidFill>
            <a:srgbClr val="D6FF3F"/>
          </a:solidFill>
          <a:ln/>
        </p:spPr>
      </p:sp>
      <p:sp>
        <p:nvSpPr>
          <p:cNvPr id="14" name="Text 11"/>
          <p:cNvSpPr/>
          <p:nvPr/>
        </p:nvSpPr>
        <p:spPr>
          <a:xfrm>
            <a:off x="6976872" y="44074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programming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720840" y="4846320"/>
            <a:ext cx="109728" cy="109728"/>
          </a:xfrm>
          <a:prstGeom prst="rect">
            <a:avLst/>
          </a:prstGeom>
          <a:solidFill>
            <a:srgbClr val="D6FF3F"/>
          </a:solidFill>
          <a:ln/>
        </p:spPr>
      </p:sp>
      <p:sp>
        <p:nvSpPr>
          <p:cNvPr id="16" name="Text 13"/>
          <p:cNvSpPr/>
          <p:nvPr/>
        </p:nvSpPr>
        <p:spPr>
          <a:xfrm>
            <a:off x="6976872" y="479145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booth (optional)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720840" y="5230368"/>
            <a:ext cx="109728" cy="109728"/>
          </a:xfrm>
          <a:prstGeom prst="rect">
            <a:avLst/>
          </a:prstGeom>
          <a:solidFill>
            <a:srgbClr val="D6FF3F"/>
          </a:solidFill>
          <a:ln/>
        </p:spPr>
      </p:sp>
      <p:sp>
        <p:nvSpPr>
          <p:cNvPr id="18" name="Text 15"/>
          <p:cNvSpPr/>
          <p:nvPr/>
        </p:nvSpPr>
        <p:spPr>
          <a:xfrm>
            <a:off x="6976872" y="517550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execution &amp; vendors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720840" y="56692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300–800 guests  ·  8–12 weeks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20840" y="59893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— Sahara Connect Party · TOKEN2049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6F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.sanity.io/images/x6yzy771/production/9431b988cf3bc588f9ee91a23d3e8bbd51d86d5b-2379x1295.jpg?w=1600&amp;auto=format&amp;fit=ma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0"/>
            <a:ext cx="501365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111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PROPOSAL · 04 / 04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603504" y="11887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11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Conference / Summit Production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22402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$100k+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40080" y="31089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11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multi-day, multi-track flagship — speakers, exhibition, the full machine.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4032504"/>
            <a:ext cx="109728" cy="109728"/>
          </a:xfrm>
          <a:prstGeom prst="rect">
            <a:avLst/>
          </a:prstGeom>
          <a:solidFill>
            <a:srgbClr val="111107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Multi-track program &amp; speakers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4416552"/>
            <a:ext cx="109728" cy="109728"/>
          </a:xfrm>
          <a:prstGeom prst="rect">
            <a:avLst/>
          </a:prstGeom>
          <a:solidFill>
            <a:srgbClr val="111107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43616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 &amp; sponsors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4800600"/>
            <a:ext cx="109728" cy="109728"/>
          </a:xfrm>
          <a:prstGeom prst="rect">
            <a:avLst/>
          </a:prstGeom>
          <a:solidFill>
            <a:srgbClr val="111107"/>
          </a:solidFill>
          <a:ln/>
        </p:spPr>
      </p:sp>
      <p:sp>
        <p:nvSpPr>
          <p:cNvPr id="12" name="Text 9"/>
          <p:cNvSpPr/>
          <p:nvPr/>
        </p:nvSpPr>
        <p:spPr>
          <a:xfrm>
            <a:off x="896112" y="47457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AV &amp; broadcast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5184648"/>
            <a:ext cx="109728" cy="109728"/>
          </a:xfrm>
          <a:prstGeom prst="rect">
            <a:avLst/>
          </a:prstGeom>
          <a:solidFill>
            <a:srgbClr val="111107"/>
          </a:solidFill>
          <a:ln/>
        </p:spPr>
      </p:sp>
      <p:sp>
        <p:nvSpPr>
          <p:cNvPr id="14" name="Text 11"/>
          <p:cNvSpPr/>
          <p:nvPr/>
        </p:nvSpPr>
        <p:spPr>
          <a:xfrm>
            <a:off x="896112" y="51297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operations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5715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1,000+ attendees  ·  3–6 months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6035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— Aggregation Summit · Seoul Meta Week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dn.sanity.io/images/x6yzy771/production/b220293ee711f3637f2c8a4f6572175687e2501e-2560x1707.jpg?w=1600&amp;auto=format&amp;fit=max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58368" y="1325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LET'S TALK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03504" y="16916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your project to the </a:t>
            </a:r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D6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stage.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41148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hello@chrisandpartners.co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4F1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+82-2-375-4620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6FF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proof.chrisandpartners.co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CF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— by Chris &amp; Partners  ·  5F DSM Square, 45 Dokmak-ro 3-gil, Mapo-gu, Seoul, Republic of Korea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— Portfolio 2026</dc:title>
  <dc:subject>PptxGenJS Presentation</dc:subject>
  <dc:creator>PROOF — by Chris &amp; Partners</dc:creator>
  <cp:lastModifiedBy>PROOF — by Chris &amp; Partners</cp:lastModifiedBy>
  <cp:revision>1</cp:revision>
  <dcterms:created xsi:type="dcterms:W3CDTF">2026-06-22T08:42:51Z</dcterms:created>
  <dcterms:modified xsi:type="dcterms:W3CDTF">2026-06-22T08:42:51Z</dcterms:modified>
</cp:coreProperties>
</file>